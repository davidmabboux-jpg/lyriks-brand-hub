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rad-viva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366760" y="0"/>
            <a:ext cx="382493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548640"/>
            <a:ext cx="274320" cy="65837"/>
          </a:xfrm>
          <a:prstGeom prst="roundRect">
            <a:avLst>
              <a:gd name="adj" fmla="val 27778"/>
            </a:avLst>
          </a:prstGeom>
          <a:solidFill>
            <a:srgbClr val="0066FF"/>
          </a:solidFill>
          <a:ln/>
        </p:spPr>
      </p:sp>
      <p:sp>
        <p:nvSpPr>
          <p:cNvPr id="4" name="Shape 1"/>
          <p:cNvSpPr/>
          <p:nvPr/>
        </p:nvSpPr>
        <p:spPr>
          <a:xfrm>
            <a:off x="640080" y="641909"/>
            <a:ext cx="274320" cy="57607"/>
          </a:xfrm>
          <a:prstGeom prst="roundRect">
            <a:avLst>
              <a:gd name="adj" fmla="val 31746"/>
            </a:avLst>
          </a:prstGeom>
          <a:solidFill>
            <a:srgbClr val="BB46F5"/>
          </a:solidFill>
          <a:ln/>
        </p:spPr>
      </p:sp>
      <p:sp>
        <p:nvSpPr>
          <p:cNvPr id="5" name="Shape 2"/>
          <p:cNvSpPr/>
          <p:nvPr/>
        </p:nvSpPr>
        <p:spPr>
          <a:xfrm>
            <a:off x="640080" y="726948"/>
            <a:ext cx="384048" cy="50292"/>
          </a:xfrm>
          <a:prstGeom prst="roundRect">
            <a:avLst>
              <a:gd name="adj" fmla="val 36364"/>
            </a:avLst>
          </a:prstGeom>
          <a:solidFill>
            <a:srgbClr val="FFA101"/>
          </a:solidFill>
          <a:ln/>
        </p:spPr>
      </p:sp>
      <p:sp>
        <p:nvSpPr>
          <p:cNvPr id="6" name="Text 3"/>
          <p:cNvSpPr/>
          <p:nvPr/>
        </p:nvSpPr>
        <p:spPr>
          <a:xfrm>
            <a:off x="1115568" y="493776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-30" kern="0" dirty="0">
                <a:solidFill>
                  <a:srgbClr val="0A0A0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Lyriks.io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40080" y="2103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FFA10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PRODUIT × IA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40080" y="2423160"/>
            <a:ext cx="7315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400" b="1" spc="-80" kern="0" dirty="0">
                <a:solidFill>
                  <a:srgbClr val="0A0A0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La cohérence produit pour développer avec l'IA.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640080" y="452628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53546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Spécification, cohérence et supervision, avant, pendant et après l'implémentation.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40080" y="59436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9296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lyriks.io · 2026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9189720" y="640080"/>
            <a:ext cx="274320" cy="65837"/>
          </a:xfrm>
          <a:prstGeom prst="roundRect">
            <a:avLst>
              <a:gd name="adj" fmla="val 27778"/>
            </a:avLst>
          </a:prstGeom>
          <a:solidFill>
            <a:srgbClr val="0066FF"/>
          </a:solidFill>
          <a:ln/>
        </p:spPr>
      </p:sp>
      <p:sp>
        <p:nvSpPr>
          <p:cNvPr id="12" name="Shape 9"/>
          <p:cNvSpPr/>
          <p:nvPr/>
        </p:nvSpPr>
        <p:spPr>
          <a:xfrm>
            <a:off x="9189720" y="733349"/>
            <a:ext cx="274320" cy="57607"/>
          </a:xfrm>
          <a:prstGeom prst="roundRect">
            <a:avLst>
              <a:gd name="adj" fmla="val 31746"/>
            </a:avLst>
          </a:prstGeom>
          <a:solidFill>
            <a:srgbClr val="BB46F5"/>
          </a:solidFill>
          <a:ln/>
        </p:spPr>
      </p:sp>
      <p:sp>
        <p:nvSpPr>
          <p:cNvPr id="13" name="Shape 10"/>
          <p:cNvSpPr/>
          <p:nvPr/>
        </p:nvSpPr>
        <p:spPr>
          <a:xfrm>
            <a:off x="9189720" y="818388"/>
            <a:ext cx="384048" cy="50292"/>
          </a:xfrm>
          <a:prstGeom prst="roundRect">
            <a:avLst>
              <a:gd name="adj" fmla="val 36364"/>
            </a:avLst>
          </a:prstGeom>
          <a:solidFill>
            <a:srgbClr val="FFA101"/>
          </a:solidFill>
          <a:ln/>
        </p:spPr>
      </p:sp>
      <p:sp>
        <p:nvSpPr>
          <p:cNvPr id="14" name="Text 11"/>
          <p:cNvSpPr/>
          <p:nvPr/>
        </p:nvSpPr>
        <p:spPr>
          <a:xfrm>
            <a:off x="9665208" y="585216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-30" kern="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Lyriks.io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8047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SOMMAIRE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0A0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 programme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FFA10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148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463040" y="210312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0A0A0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Le problème</a:t>
            </a:r>
            <a:endParaRPr lang="en-US" sz="1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3546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 dérive entre intention et code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299008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8047F4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9900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63040" y="2944368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0A0A0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Les 3 piliers</a:t>
            </a:r>
            <a:endParaRPr lang="en-US" sz="1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3546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Spécification · Cohérence · Supervision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40080" y="3831336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0066F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8313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463040" y="3785616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0A0A0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Le produit</a:t>
            </a:r>
            <a:endParaRPr lang="en-US" sz="1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3546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Trois écrans, une continuité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40080" y="4672584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FA98A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67258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463040" y="4626864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0A0A0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Pour qui</a:t>
            </a:r>
            <a:endParaRPr lang="en-US" sz="1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3546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Produit · Design · Dev · Management · Finance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40080" y="5513832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FA5FB2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55138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63040" y="546811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0A0A0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Offres</a:t>
            </a:r>
            <a:endParaRPr lang="en-US" sz="1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3546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Community · Enterprise · Managé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296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rad-brand.png">    </p:cNvPr>
          <p:cNvPicPr>
            <a:picLocks noChangeAspect="1"/>
          </p:cNvPicPr>
          <p:nvPr/>
        </p:nvPicPr>
        <p:blipFill>
          <a:blip r:embed="rId1">
            <a:alphaModFix amt="92000"/>
          </a:blip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82880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FFFFFF">
                    <a:alpha val="75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12000" dirty="0"/>
          </a:p>
        </p:txBody>
      </p:sp>
      <p:sp>
        <p:nvSpPr>
          <p:cNvPr id="4" name="Text 1"/>
          <p:cNvSpPr/>
          <p:nvPr/>
        </p:nvSpPr>
        <p:spPr>
          <a:xfrm>
            <a:off x="640080" y="3794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SECTION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406908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Le problème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640080" y="51206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>
                    <a:alpha val="88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 l'intention produit à l'implémentation, sans dérive.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5989320"/>
            <a:ext cx="274320" cy="65837"/>
          </a:xfrm>
          <a:prstGeom prst="roundRect">
            <a:avLst>
              <a:gd name="adj" fmla="val 27778"/>
            </a:avLst>
          </a:prstGeom>
          <a:solidFill>
            <a:srgbClr val="0066FF"/>
          </a:solidFill>
          <a:ln/>
        </p:spPr>
      </p:sp>
      <p:sp>
        <p:nvSpPr>
          <p:cNvPr id="8" name="Shape 5"/>
          <p:cNvSpPr/>
          <p:nvPr/>
        </p:nvSpPr>
        <p:spPr>
          <a:xfrm>
            <a:off x="640080" y="6082589"/>
            <a:ext cx="274320" cy="57607"/>
          </a:xfrm>
          <a:prstGeom prst="roundRect">
            <a:avLst>
              <a:gd name="adj" fmla="val 31746"/>
            </a:avLst>
          </a:prstGeom>
          <a:solidFill>
            <a:srgbClr val="BB46F5"/>
          </a:solidFill>
          <a:ln/>
        </p:spPr>
      </p:sp>
      <p:sp>
        <p:nvSpPr>
          <p:cNvPr id="9" name="Shape 6"/>
          <p:cNvSpPr/>
          <p:nvPr/>
        </p:nvSpPr>
        <p:spPr>
          <a:xfrm>
            <a:off x="640080" y="6167628"/>
            <a:ext cx="384048" cy="50292"/>
          </a:xfrm>
          <a:prstGeom prst="roundRect">
            <a:avLst>
              <a:gd name="adj" fmla="val 36364"/>
            </a:avLst>
          </a:prstGeom>
          <a:solidFill>
            <a:srgbClr val="FFA101"/>
          </a:solidFill>
          <a:ln/>
        </p:spPr>
      </p:sp>
      <p:sp>
        <p:nvSpPr>
          <p:cNvPr id="10" name="Text 7"/>
          <p:cNvSpPr/>
          <p:nvPr/>
        </p:nvSpPr>
        <p:spPr>
          <a:xfrm>
            <a:off x="1115568" y="5934456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-30" kern="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Lyriks.io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FFA10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LE PROBLÈME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0A0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Le code va plus vite que l'alignement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3546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À l'ère de l'IA, on produit plus de code, plus vite. Mais l'intention produit, elle, se perd en route.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2743200"/>
            <a:ext cx="65836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Ambiguïtés, contradictions et éléments manquants dans les specs.</a:t>
            </a:r>
            <a:endParaRPr lang="en-US" sz="14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États oubliés et ruptures dans les parcours.</a:t>
            </a:r>
            <a:endParaRPr lang="en-US" sz="14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Écarts entre ce qui est spécifié et ce qui est implémenté.</a:t>
            </a:r>
            <a:endParaRPr lang="en-US" sz="1450" dirty="0"/>
          </a:p>
          <a:p>
            <a:pPr marL="228600" indent="-228600"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Usage de l'IA peu visible, difficile à maîtriser et à mesurer.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7772400" y="1828800"/>
            <a:ext cx="3776472" cy="3657600"/>
          </a:xfrm>
          <a:prstGeom prst="roundRect">
            <a:avLst>
              <a:gd name="adj" fmla="val 2500"/>
            </a:avLst>
          </a:prstGeom>
          <a:solidFill>
            <a:srgbClr val="F3F0FB"/>
          </a:solidFill>
          <a:ln/>
          <a:effectLst>
            <a:outerShdw sx="100000" sy="100000" kx="0" ky="0" algn="bl" rotWithShape="0" blurRad="114300" dist="38100" dir="5400000">
              <a:srgbClr val="10122A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092440" y="21488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8047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 PROMESSE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092440" y="260604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100" b="1" dirty="0">
                <a:solidFill>
                  <a:srgbClr val="0A0A0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 l'intention produit à l'implémentation, sans dérive.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296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8047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 PLATEFORME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0A0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Trois piliers, un produit cohérent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10908792" cy="1024128"/>
          </a:xfrm>
          <a:prstGeom prst="roundRect">
            <a:avLst>
              <a:gd name="adj" fmla="val 7143"/>
            </a:avLst>
          </a:prstGeom>
          <a:solidFill>
            <a:srgbClr val="0066FF"/>
          </a:solidFill>
          <a:ln/>
        </p:spPr>
      </p:sp>
      <p:sp>
        <p:nvSpPr>
          <p:cNvPr id="5" name="Text 3"/>
          <p:cNvSpPr/>
          <p:nvPr/>
        </p:nvSpPr>
        <p:spPr>
          <a:xfrm>
            <a:off x="1051560" y="2286000"/>
            <a:ext cx="6400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>
                    <a:alpha val="7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783080" y="2286000"/>
            <a:ext cx="36576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Spécification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577840" y="2286000"/>
            <a:ext cx="54864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Transformer l'intention en spécifications exploitables.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474720"/>
            <a:ext cx="10908792" cy="1024128"/>
          </a:xfrm>
          <a:prstGeom prst="roundRect">
            <a:avLst>
              <a:gd name="adj" fmla="val 7143"/>
            </a:avLst>
          </a:prstGeom>
          <a:solidFill>
            <a:srgbClr val="BB46F5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3474720"/>
            <a:ext cx="6400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>
                    <a:alpha val="7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783080" y="3474720"/>
            <a:ext cx="36576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Cohérence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577840" y="3474720"/>
            <a:ext cx="54864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Repérer les écarts avant, pendant et après le build.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4663440"/>
            <a:ext cx="10908792" cy="1024128"/>
          </a:xfrm>
          <a:prstGeom prst="roundRect">
            <a:avLst>
              <a:gd name="adj" fmla="val 7143"/>
            </a:avLst>
          </a:prstGeom>
          <a:solidFill>
            <a:srgbClr val="FFA101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4663440"/>
            <a:ext cx="6400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>
                    <a:alpha val="7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783080" y="4663440"/>
            <a:ext cx="36576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0A0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Supervision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5577840" y="4663440"/>
            <a:ext cx="54864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Encadrer les pratiques et mesurer la valeur créée.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296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0066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SPÉCIFICATION PRODUIT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0A0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Une modélisation produit partagée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i="1" dirty="0">
                <a:solidFill>
                  <a:srgbClr val="53546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Une base de connaissance centralisée : équipes et agents IA partagent la même compréhension de ce qui doit être construit.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40080" y="3017520"/>
            <a:ext cx="4846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Vision produit, features &amp; priorisation.</a:t>
            </a:r>
            <a:endParaRPr lang="en-US" sz="14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Cartographie des parcours clés &amp; règles métier.</a:t>
            </a:r>
            <a:endParaRPr lang="en-US" sz="1450" dirty="0"/>
          </a:p>
          <a:p>
            <a:pPr marL="203200" indent="-203200"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Spécifications fonctionnelle, technique &amp; data.</a:t>
            </a:r>
            <a:endParaRPr lang="en-US" sz="1450" dirty="0"/>
          </a:p>
        </p:txBody>
      </p:sp>
      <p:pic>
        <p:nvPicPr>
          <p:cNvPr id="6" name="Image 0" descr="m-ex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1691640"/>
            <a:ext cx="5605272" cy="3648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296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-co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71600"/>
            <a:ext cx="4389120" cy="363931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0" y="1554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FA5FB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COHÉRENCE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0" y="1874520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0A0A0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Une continuité vérifiable entre l'intention, l'expérience et l'implémentation.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0" y="320040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53546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 moteur de contrôle pour repérer les écarts avant, pendant et après le développement.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0" y="4114800"/>
            <a:ext cx="5943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Détection des ambiguïtés, contradictions et manques.</a:t>
            </a:r>
            <a:endParaRPr lang="en-US" sz="14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Simulation des comportements avant le build.</a:t>
            </a:r>
            <a:endParaRPr lang="en-US" sz="1400" dirty="0"/>
          </a:p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Comparaison entre implémentation et spécification.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296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8047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SUPERVISION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0A0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 usage de l'IA visible et mesurable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i="1" dirty="0">
                <a:solidFill>
                  <a:srgbClr val="53546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Une vue consolidée pour encadrer les pratiques, contrôler les risques et mesurer la valeur réellement créée.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40080" y="3017520"/>
            <a:ext cx="4846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Performance des projets.</a:t>
            </a:r>
            <a:endParaRPr lang="en-US" sz="14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Consommation, qualité &amp; coûts.</a:t>
            </a:r>
            <a:endParaRPr lang="en-US" sz="14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Partage des meilleures pratiques.</a:t>
            </a:r>
            <a:endParaRPr lang="en-US" sz="1450" dirty="0"/>
          </a:p>
          <a:p>
            <a:pPr marL="203200" indent="-203200"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Détection rapide des comportements hors cadre.</a:t>
            </a:r>
            <a:endParaRPr lang="en-US" sz="1450" dirty="0"/>
          </a:p>
        </p:txBody>
      </p:sp>
      <p:pic>
        <p:nvPicPr>
          <p:cNvPr id="6" name="Image 0" descr="m-a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1691640"/>
            <a:ext cx="5605272" cy="3648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296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1FA9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POUR QUI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0A0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Chaque expertise fait avancer le produit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066FF"/>
          </a:solidFill>
          <a:ln/>
        </p:spPr>
      </p:sp>
      <p:sp>
        <p:nvSpPr>
          <p:cNvPr id="5" name="Text 3"/>
          <p:cNvSpPr/>
          <p:nvPr/>
        </p:nvSpPr>
        <p:spPr>
          <a:xfrm>
            <a:off x="1353312" y="1975104"/>
            <a:ext cx="10424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0A0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Produit  </a:t>
            </a:r>
            <a:pPr indent="0" marL="0">
              <a:buNone/>
            </a:pPr>
            <a:r>
              <a:rPr lang="en-US" sz="1400" dirty="0">
                <a:solidFill>
                  <a:srgbClr val="53546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Transformer l'intention produit en spécifications.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40080" y="276148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A5FB2"/>
          </a:solidFill>
          <a:ln/>
        </p:spPr>
      </p:sp>
      <p:sp>
        <p:nvSpPr>
          <p:cNvPr id="7" name="Text 5"/>
          <p:cNvSpPr/>
          <p:nvPr/>
        </p:nvSpPr>
        <p:spPr>
          <a:xfrm>
            <a:off x="1353312" y="2724912"/>
            <a:ext cx="10424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0A0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Design  </a:t>
            </a:r>
            <a:pPr indent="0" marL="0">
              <a:buNone/>
            </a:pPr>
            <a:r>
              <a:rPr lang="en-US" sz="1400" dirty="0">
                <a:solidFill>
                  <a:srgbClr val="53546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Concevoir des parcours cohérents de bout en bout.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351129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8047F4"/>
          </a:solidFill>
          <a:ln/>
        </p:spPr>
      </p:sp>
      <p:sp>
        <p:nvSpPr>
          <p:cNvPr id="9" name="Text 7"/>
          <p:cNvSpPr/>
          <p:nvPr/>
        </p:nvSpPr>
        <p:spPr>
          <a:xfrm>
            <a:off x="1353312" y="3474720"/>
            <a:ext cx="10424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0A0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Développement  </a:t>
            </a:r>
            <a:pPr indent="0" marL="0">
              <a:buNone/>
            </a:pPr>
            <a:r>
              <a:rPr lang="en-US" sz="1400" dirty="0">
                <a:solidFill>
                  <a:srgbClr val="53546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Construire à partir d'une spécification vérifiable.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40080" y="426110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FA98A"/>
          </a:solidFill>
          <a:ln/>
        </p:spPr>
      </p:sp>
      <p:sp>
        <p:nvSpPr>
          <p:cNvPr id="11" name="Text 9"/>
          <p:cNvSpPr/>
          <p:nvPr/>
        </p:nvSpPr>
        <p:spPr>
          <a:xfrm>
            <a:off x="1353312" y="4224528"/>
            <a:ext cx="10424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0A0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Management  </a:t>
            </a:r>
            <a:pPr indent="0" marL="0">
              <a:buNone/>
            </a:pPr>
            <a:r>
              <a:rPr lang="en-US" sz="1400" dirty="0">
                <a:solidFill>
                  <a:srgbClr val="53546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Garder l'alignement, la qualité et le contrôle.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40080" y="501091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FA101"/>
          </a:solidFill>
          <a:ln/>
        </p:spPr>
      </p:sp>
      <p:sp>
        <p:nvSpPr>
          <p:cNvPr id="13" name="Text 11"/>
          <p:cNvSpPr/>
          <p:nvPr/>
        </p:nvSpPr>
        <p:spPr>
          <a:xfrm>
            <a:off x="1353312" y="4974336"/>
            <a:ext cx="10424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0A0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Finance  </a:t>
            </a:r>
            <a:pPr indent="0" marL="0">
              <a:buNone/>
            </a:pPr>
            <a:r>
              <a:rPr lang="en-US" sz="1400" dirty="0">
                <a:solidFill>
                  <a:srgbClr val="53546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Piloter l'usage et la rentabilité réelle de l'IA.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296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0" b="1" dirty="0">
                <a:solidFill>
                  <a:srgbClr val="BB46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“</a:t>
            </a:r>
            <a:endParaRPr lang="en-US" sz="13000" dirty="0"/>
          </a:p>
        </p:txBody>
      </p:sp>
      <p:sp>
        <p:nvSpPr>
          <p:cNvPr id="3" name="Text 1"/>
          <p:cNvSpPr/>
          <p:nvPr/>
        </p:nvSpPr>
        <p:spPr>
          <a:xfrm>
            <a:off x="640080" y="2286000"/>
            <a:ext cx="10607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800" b="1" i="1" dirty="0">
                <a:solidFill>
                  <a:srgbClr val="0A0A0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 l'intention produit à l'implémentation, sans dérive.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47548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Lyriks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296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 cohérence produit à l'ère de l'IA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296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FA5FB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OFFRES &amp; DÉPLOIEMENT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0A0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Choisissez votre mode de déploiement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474720" cy="41605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E8E8EE"/>
            </a:solidFill>
            <a:prstDash val="solid"/>
          </a:ln>
          <a:effectLst>
            <a:outerShdw sx="100000" sy="100000" kx="0" ky="0" algn="bl" rotWithShape="0" blurRad="114300" dist="38100" dir="5400000">
              <a:srgbClr val="10122A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32688" y="22402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B46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Community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32688" y="267004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50" kern="0" dirty="0">
                <a:solidFill>
                  <a:srgbClr val="9296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Open source · AGPL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32688" y="3154680"/>
            <a:ext cx="2926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Self-hébergé, sur vos serveurs</a:t>
            </a:r>
            <a:endParaRPr lang="en-US" sz="12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Modélisation produit complète</a:t>
            </a:r>
            <a:endParaRPr lang="en-US" sz="12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Spécifications prêtes pour l'IA</a:t>
            </a:r>
            <a:endParaRPr lang="en-US" sz="1200" dirty="0"/>
          </a:p>
          <a:p>
            <a:pPr marL="177800" indent="-177800">
              <a:lnSpc>
                <a:spcPct val="105000"/>
              </a:lnSpc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Contrôles de cohérence essentiels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32688" y="55321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B46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Voir sur GitHub  →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98264" y="1965960"/>
            <a:ext cx="3474720" cy="41605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E8E8EE"/>
            </a:solidFill>
            <a:prstDash val="solid"/>
          </a:ln>
          <a:effectLst>
            <a:outerShdw sx="100000" sy="100000" kx="0" ky="0" algn="bl" rotWithShape="0" blurRad="114300" dist="38100" dir="5400000">
              <a:srgbClr val="10122A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90872" y="22402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66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Enterprise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690872" y="267004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50" kern="0" dirty="0">
                <a:solidFill>
                  <a:srgbClr val="9296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Licence annuelle · self-service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690872" y="3154680"/>
            <a:ext cx="2926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Équipes multi-utilisateurs</a:t>
            </a:r>
            <a:endParaRPr lang="en-US" sz="12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Gestion des droits &amp; rôles</a:t>
            </a:r>
            <a:endParaRPr lang="en-US" sz="12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Collaboration en temps réel</a:t>
            </a:r>
            <a:endParaRPr lang="en-US" sz="1200" dirty="0"/>
          </a:p>
          <a:p>
            <a:pPr marL="177800" indent="-177800">
              <a:lnSpc>
                <a:spcPct val="105000"/>
              </a:lnSpc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Vérification après implémentation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90872" y="55321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66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Demander un devis  →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56448" y="1965960"/>
            <a:ext cx="3474720" cy="41605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E8E8EE"/>
            </a:solidFill>
            <a:prstDash val="solid"/>
          </a:ln>
          <a:effectLst>
            <a:outerShdw sx="100000" sy="100000" kx="0" ky="0" algn="bl" rotWithShape="0" blurRad="114300" dist="38100" dir="5400000">
              <a:srgbClr val="10122A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449056" y="22402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A10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Managé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449056" y="267004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50" kern="0" dirty="0">
                <a:solidFill>
                  <a:srgbClr val="9296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Hébergé &amp; opéré par Lyriks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449056" y="3154680"/>
            <a:ext cx="2926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Infogérance complète &amp; SLA</a:t>
            </a:r>
            <a:endParaRPr lang="en-US" sz="12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Supervision avancée des usages IA</a:t>
            </a:r>
            <a:endParaRPr lang="en-US" sz="12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SSO &amp; sécurité avancée</a:t>
            </a:r>
            <a:endParaRPr lang="en-US" sz="1200" dirty="0"/>
          </a:p>
          <a:p>
            <a:pPr marL="177800" indent="-177800">
              <a:lnSpc>
                <a:spcPct val="105000"/>
              </a:lnSpc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Accompagnement dédié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449056" y="55321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A10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Contacter l'équipe  →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296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8047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L'ÉQUIPE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0A0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Les voix de Lyriks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347472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E8E8EE"/>
            </a:solidFill>
            <a:prstDash val="solid"/>
          </a:ln>
          <a:effectLst>
            <a:outerShdw sx="100000" sy="100000" kx="0" ky="0" algn="bl" rotWithShape="0" blurRad="114300" dist="38100" dir="5400000">
              <a:srgbClr val="10122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920240" y="2606040"/>
            <a:ext cx="914400" cy="914400"/>
          </a:xfrm>
          <a:prstGeom prst="ellipse">
            <a:avLst/>
          </a:prstGeom>
          <a:solidFill>
            <a:srgbClr val="FFA101"/>
          </a:solidFill>
          <a:ln/>
        </p:spPr>
      </p:sp>
      <p:sp>
        <p:nvSpPr>
          <p:cNvPr id="6" name="Text 4"/>
          <p:cNvSpPr/>
          <p:nvPr/>
        </p:nvSpPr>
        <p:spPr>
          <a:xfrm>
            <a:off x="1920240" y="26060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DM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37490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David Mabboux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41605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296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Business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98264" y="2194560"/>
            <a:ext cx="347472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E8E8EE"/>
            </a:solidFill>
            <a:prstDash val="solid"/>
          </a:ln>
          <a:effectLst>
            <a:outerShdw sx="100000" sy="100000" kx="0" ky="0" algn="bl" rotWithShape="0" blurRad="114300" dist="38100" dir="5400000">
              <a:srgbClr val="10122A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678424" y="2606040"/>
            <a:ext cx="914400" cy="914400"/>
          </a:xfrm>
          <a:prstGeom prst="ellipse">
            <a:avLst/>
          </a:prstGeom>
          <a:solidFill>
            <a:srgbClr val="BB46F5"/>
          </a:solidFill>
          <a:ln/>
        </p:spPr>
      </p:sp>
      <p:sp>
        <p:nvSpPr>
          <p:cNvPr id="11" name="Text 9"/>
          <p:cNvSpPr/>
          <p:nvPr/>
        </p:nvSpPr>
        <p:spPr>
          <a:xfrm>
            <a:off x="5678424" y="26060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AB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581144" y="37490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Adrien Basso Blandin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81144" y="41605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296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Cohérence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56448" y="2194560"/>
            <a:ext cx="347472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E8E8EE"/>
            </a:solidFill>
            <a:prstDash val="solid"/>
          </a:ln>
          <a:effectLst>
            <a:outerShdw sx="100000" sy="100000" kx="0" ky="0" algn="bl" rotWithShape="0" blurRad="114300" dist="38100" dir="5400000">
              <a:srgbClr val="10122A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436608" y="2606040"/>
            <a:ext cx="914400" cy="914400"/>
          </a:xfrm>
          <a:prstGeom prst="ellipse">
            <a:avLst/>
          </a:prstGeom>
          <a:solidFill>
            <a:srgbClr val="0066FF"/>
          </a:solidFill>
          <a:ln/>
        </p:spPr>
      </p:sp>
      <p:sp>
        <p:nvSpPr>
          <p:cNvPr id="16" name="Text 14"/>
          <p:cNvSpPr/>
          <p:nvPr/>
        </p:nvSpPr>
        <p:spPr>
          <a:xfrm>
            <a:off x="9436608" y="26060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AC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339328" y="37490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Adrien Charles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39328" y="41605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296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Produit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296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rad-brand.png">    </p:cNvPr>
          <p:cNvPicPr>
            <a:picLocks noChangeAspect="1"/>
          </p:cNvPicPr>
          <p:nvPr/>
        </p:nvPicPr>
        <p:blipFill>
          <a:blip r:embed="rId1">
            <a:alphaModFix amt="94000"/>
          </a:blip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2011680"/>
            <a:ext cx="10058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Restez cohérent</a:t>
            </a:r>
            <a:endParaRPr lang="en-US" sz="5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à l'ère de l'IA.</a:t>
            </a:r>
            <a:endParaRPr lang="en-US" sz="5200" dirty="0"/>
          </a:p>
        </p:txBody>
      </p:sp>
      <p:sp>
        <p:nvSpPr>
          <p:cNvPr id="4" name="Text 1"/>
          <p:cNvSpPr/>
          <p:nvPr/>
        </p:nvSpPr>
        <p:spPr>
          <a:xfrm>
            <a:off x="640080" y="42976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hello@lyriks.io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lyriks.io · Réserver une démo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640080" y="5943600"/>
            <a:ext cx="274320" cy="65837"/>
          </a:xfrm>
          <a:prstGeom prst="roundRect">
            <a:avLst>
              <a:gd name="adj" fmla="val 27778"/>
            </a:avLst>
          </a:prstGeom>
          <a:solidFill>
            <a:srgbClr val="0066FF"/>
          </a:solidFill>
          <a:ln/>
        </p:spPr>
      </p:sp>
      <p:sp>
        <p:nvSpPr>
          <p:cNvPr id="6" name="Shape 3"/>
          <p:cNvSpPr/>
          <p:nvPr/>
        </p:nvSpPr>
        <p:spPr>
          <a:xfrm>
            <a:off x="640080" y="6036869"/>
            <a:ext cx="274320" cy="57607"/>
          </a:xfrm>
          <a:prstGeom prst="roundRect">
            <a:avLst>
              <a:gd name="adj" fmla="val 31746"/>
            </a:avLst>
          </a:prstGeom>
          <a:solidFill>
            <a:srgbClr val="BB46F5"/>
          </a:solidFill>
          <a:ln/>
        </p:spPr>
      </p:sp>
      <p:sp>
        <p:nvSpPr>
          <p:cNvPr id="7" name="Shape 4"/>
          <p:cNvSpPr/>
          <p:nvPr/>
        </p:nvSpPr>
        <p:spPr>
          <a:xfrm>
            <a:off x="640080" y="6121908"/>
            <a:ext cx="384048" cy="50292"/>
          </a:xfrm>
          <a:prstGeom prst="roundRect">
            <a:avLst>
              <a:gd name="adj" fmla="val 36364"/>
            </a:avLst>
          </a:prstGeom>
          <a:solidFill>
            <a:srgbClr val="FFA101"/>
          </a:solidFill>
          <a:ln/>
        </p:spPr>
      </p:sp>
      <p:sp>
        <p:nvSpPr>
          <p:cNvPr id="8" name="Text 5"/>
          <p:cNvSpPr/>
          <p:nvPr/>
        </p:nvSpPr>
        <p:spPr>
          <a:xfrm>
            <a:off x="1115568" y="5888736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-30" kern="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Lyriks.io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Lyriks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Lyriks — La cohérence produit pour développer avec l'IA</dc:title>
  <dc:subject>PptxGenJS Presentation</dc:subject>
  <dc:creator>Lyriks</dc:creator>
  <cp:lastModifiedBy>Lyriks</cp:lastModifiedBy>
  <cp:revision>1</cp:revision>
  <dcterms:created xsi:type="dcterms:W3CDTF">2026-06-23T09:24:40Z</dcterms:created>
  <dcterms:modified xsi:type="dcterms:W3CDTF">2026-06-23T09:24:40Z</dcterms:modified>
</cp:coreProperties>
</file>